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63" r:id="rId4"/>
    <p:sldId id="265" r:id="rId5"/>
    <p:sldId id="266" r:id="rId6"/>
    <p:sldId id="259" r:id="rId7"/>
    <p:sldId id="272" r:id="rId8"/>
    <p:sldId id="270" r:id="rId9"/>
    <p:sldId id="271" r:id="rId10"/>
    <p:sldId id="267" r:id="rId11"/>
    <p:sldId id="264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59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08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83D70-91AA-429A-BD57-1CB6792B30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136" y="1078030"/>
            <a:ext cx="9288096" cy="2956718"/>
          </a:xfrm>
        </p:spPr>
        <p:txBody>
          <a:bodyPr anchor="t">
            <a:noAutofit/>
          </a:bodyPr>
          <a:lstStyle>
            <a:lvl1pPr algn="l">
              <a:defRPr sz="66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4455621"/>
            <a:ext cx="9288096" cy="1435331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237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722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8007D-9B1D-4E2C-B38F-29C682099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99127"/>
            <a:ext cx="9272260" cy="3472874"/>
          </a:xfrm>
        </p:spPr>
        <p:txBody>
          <a:bodyPr anchor="t">
            <a:normAutofit/>
          </a:bodyPr>
          <a:lstStyle>
            <a:lvl1pPr>
              <a:defRPr sz="4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60C51B-B525-4032-9D08-2978D7367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0939" y="4572000"/>
            <a:ext cx="9272262" cy="1320801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793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9890066" cy="129422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71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84333"/>
            <a:ext cx="9949455" cy="83885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780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857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48B02B-A32A-4383-BBC7-0C383390A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FF7E77-47E0-4F9E-9148-8D0C59C0C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005A2-ECF0-4759-A17B-FDECE8068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292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1DD4B-5676-477E-8C52-4C1CF160F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94448"/>
            <a:ext cx="3785860" cy="1554362"/>
          </a:xfrm>
        </p:spPr>
        <p:txBody>
          <a:bodyPr anchor="t">
            <a:normAutofit/>
          </a:bodyPr>
          <a:lstStyle>
            <a:lvl1pPr>
              <a:defRPr sz="28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A3E63-EB15-4D82-BF2B-36BB030C4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4500" y="922689"/>
            <a:ext cx="5486002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BE994E-BAB7-43DC-A0E4-C779CF2A33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0940" y="2701254"/>
            <a:ext cx="3785860" cy="316773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EFAAA-1B70-42AA-ADCC-F49B58132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C7B6CC-1C13-4F34-AC86-CCD442C8C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F1B638-9061-41AD-AF47-73A4AF8B7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735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F3C43-1676-4A29-83F9-D788ED2E7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97280"/>
            <a:ext cx="3785860" cy="1559740"/>
          </a:xfrm>
        </p:spPr>
        <p:txBody>
          <a:bodyPr anchor="t">
            <a:normAutofit/>
          </a:bodyPr>
          <a:lstStyle>
            <a:lvl1pPr>
              <a:defRPr sz="28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14A903-97C7-4349-B8CE-1BBED1942E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4500" y="1143000"/>
            <a:ext cx="5486400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0A9F58-4AEB-4286-98F7-3C77AA913B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0940" y="2697480"/>
            <a:ext cx="3785860" cy="309342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55A58-F085-4500-AF61-045B12C8F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936470-561D-49AE-AC84-B79D483FD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EF2BE2-DF21-4683-9D5F-849A525FD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679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6C900-05BC-4021-B69F-2DAF974B7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26E227-253A-44A0-9404-1CFD8CE41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404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2CF945-D70F-49C1-8CE5-5758C11660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82100" y="1091381"/>
            <a:ext cx="2171700" cy="4953369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FDB721-04AA-4330-8045-3F2D9BB4BC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091381"/>
            <a:ext cx="8265340" cy="495336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18C15-991C-4C71-8DCD-DB3B38888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28CC3-5830-4EFA-B28E-1648904DE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A91B6-E419-4483-9B66-3C758788B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E447C6A-78C3-4687-9A71-A05DBF6700DE}"/>
              </a:ext>
            </a:extLst>
          </p:cNvPr>
          <p:cNvCxnSpPr>
            <a:cxnSpLocks/>
          </p:cNvCxnSpPr>
          <p:nvPr/>
        </p:nvCxnSpPr>
        <p:spPr>
          <a:xfrm>
            <a:off x="11387805" y="1185205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6068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12942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447778"/>
            <a:ext cx="9922764" cy="3838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15200" y="6389688"/>
            <a:ext cx="36953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A1E45834-53BD-4C8F-B791-CD5378F4150E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940" y="6389688"/>
            <a:ext cx="44335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190" y="6389688"/>
            <a:ext cx="9402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8689CE0-64D2-447C-9C1F-872D111D8AC3}"/>
              </a:ext>
            </a:extLst>
          </p:cNvPr>
          <p:cNvCxnSpPr>
            <a:cxnSpLocks/>
          </p:cNvCxnSpPr>
          <p:nvPr/>
        </p:nvCxnSpPr>
        <p:spPr>
          <a:xfrm>
            <a:off x="0" y="1185205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1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Neue Haas Grotesk Text Pro" panose="020B050402020202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7F4A8A-7B54-4D8D-933A-8921996A0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0EE970-B0FA-EF6A-B31D-C7E7C30DDB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564" y="1388063"/>
            <a:ext cx="8229600" cy="1322004"/>
          </a:xfrm>
        </p:spPr>
        <p:txBody>
          <a:bodyPr anchor="t">
            <a:no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B0F0"/>
                </a:solidFill>
              </a:rPr>
              <a:t>Predicting Loss-Making Firms Using Administrative Tax Data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0AA360F-DECB-4836-8FB6-22C4BC3FB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207120"/>
            <a:ext cx="804195" cy="0"/>
          </a:xfrm>
          <a:prstGeom prst="line">
            <a:avLst/>
          </a:prstGeom>
          <a:ln w="1238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Jigsaw puzzles in plastic figures">
            <a:extLst>
              <a:ext uri="{FF2B5EF4-FFF2-40B4-BE49-F238E27FC236}">
                <a16:creationId xmlns:a16="http://schemas.microsoft.com/office/drawing/2014/main" id="{FE9A9A5C-695C-F877-9EF2-9328D751BB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609" r="29441"/>
          <a:stretch>
            <a:fillRect/>
          </a:stretch>
        </p:blipFill>
        <p:spPr>
          <a:xfrm>
            <a:off x="8532727" y="1"/>
            <a:ext cx="365927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905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BCD464-4126-8C62-A50D-134B81FD3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D29B27A-FF34-ECBE-2D3D-22DBA0882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283A1A-B034-EBB0-22D8-8A41ADF219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0"/>
            <a:ext cx="12191999" cy="414557"/>
          </a:xfrm>
          <a:solidFill>
            <a:srgbClr val="00B0F0"/>
          </a:solidFill>
        </p:spPr>
        <p:txBody>
          <a:bodyPr anchor="t">
            <a:no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Purpose and Policy Context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0D3AC0E-7364-6BA4-51A2-1DECD95FD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207120"/>
            <a:ext cx="804195" cy="0"/>
          </a:xfrm>
          <a:prstGeom prst="line">
            <a:avLst/>
          </a:prstGeom>
          <a:ln w="1238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EFD5D43-F05C-4DD0-5F09-AEF93D2F66DB}"/>
              </a:ext>
            </a:extLst>
          </p:cNvPr>
          <p:cNvGrpSpPr/>
          <p:nvPr/>
        </p:nvGrpSpPr>
        <p:grpSpPr>
          <a:xfrm>
            <a:off x="0" y="3854200"/>
            <a:ext cx="5272058" cy="1858191"/>
            <a:chOff x="6047630" y="446693"/>
            <a:chExt cx="5165696" cy="184666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AEFA5CE-CCC7-0421-B1E0-A61583327711}"/>
                </a:ext>
              </a:extLst>
            </p:cNvPr>
            <p:cNvSpPr txBox="1"/>
            <p:nvPr/>
          </p:nvSpPr>
          <p:spPr>
            <a:xfrm>
              <a:off x="6047630" y="754470"/>
              <a:ext cx="5165695" cy="1538883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marL="285750" indent="-285750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Kenya has persistently failed to meet Corporate Income Tax (CIT) revenue targets. The high prevalence of firms reporting losses significantly erodes the effective tax base, creating fiscal uncertainty</a:t>
              </a:r>
            </a:p>
            <a:p>
              <a:pPr marL="285750" indent="-285750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Persistent loss-making firms create compliance risk, inefficient audit allocation and revenue uncertainty.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DE41ACC-5E96-5F60-E062-E56810EC34AA}"/>
                </a:ext>
              </a:extLst>
            </p:cNvPr>
            <p:cNvSpPr txBox="1"/>
            <p:nvPr/>
          </p:nvSpPr>
          <p:spPr>
            <a:xfrm>
              <a:off x="6047632" y="446693"/>
              <a:ext cx="5165694" cy="33645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Business and policy Problem</a:t>
              </a:r>
              <a:r>
                <a: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AAB73AA-BABD-E5A4-AADF-586BB73C7967}"/>
              </a:ext>
            </a:extLst>
          </p:cNvPr>
          <p:cNvGrpSpPr/>
          <p:nvPr/>
        </p:nvGrpSpPr>
        <p:grpSpPr>
          <a:xfrm>
            <a:off x="5539409" y="445084"/>
            <a:ext cx="6427303" cy="2566458"/>
            <a:chOff x="5885953" y="2512678"/>
            <a:chExt cx="6150996" cy="256645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CE986A1-7013-97FF-AF7C-BE80B09D4121}"/>
                </a:ext>
              </a:extLst>
            </p:cNvPr>
            <p:cNvSpPr txBox="1"/>
            <p:nvPr/>
          </p:nvSpPr>
          <p:spPr>
            <a:xfrm>
              <a:off x="5885953" y="2512678"/>
              <a:ext cx="6150996" cy="3385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Value Proposition: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AFA370D-1CB0-00C4-B3AD-9E8A9E32FBE2}"/>
                </a:ext>
              </a:extLst>
            </p:cNvPr>
            <p:cNvSpPr txBox="1"/>
            <p:nvPr/>
          </p:nvSpPr>
          <p:spPr>
            <a:xfrm>
              <a:off x="5885953" y="2801589"/>
              <a:ext cx="6150996" cy="227754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marL="285750" indent="-285750" algn="just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Enables risk-based targeting in place of blanket audits by developing an automated risk scoring system that:</a:t>
              </a:r>
            </a:p>
            <a:p>
              <a:pPr marL="742950" lvl="1" indent="-285750" algn="just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v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Processes firm-level Corporate Income Tax (CIT) return data following the methodology outlined in the project proposal.</a:t>
              </a:r>
            </a:p>
            <a:p>
              <a:pPr marL="742950" lvl="1" indent="-285750" algn="just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v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Employs an iterative modeling approach, starting with interpretable logistic regression as a primary benchmark.</a:t>
              </a:r>
            </a:p>
            <a:p>
              <a:pPr marL="742950" lvl="1" indent="-285750" algn="just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v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Leverages machine learning techniques to identify high-risk, loss-reporting firms for targeted compliance interventions.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ED0239B-5428-1319-6BC0-9C7AD213C1DB}"/>
              </a:ext>
            </a:extLst>
          </p:cNvPr>
          <p:cNvGrpSpPr/>
          <p:nvPr/>
        </p:nvGrpSpPr>
        <p:grpSpPr>
          <a:xfrm>
            <a:off x="5539409" y="3300453"/>
            <a:ext cx="6367668" cy="3185237"/>
            <a:chOff x="5797824" y="3301317"/>
            <a:chExt cx="6188435" cy="318523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B4013E6-B29D-CE7F-2314-C460AF3D0E78}"/>
                </a:ext>
              </a:extLst>
            </p:cNvPr>
            <p:cNvSpPr txBox="1"/>
            <p:nvPr/>
          </p:nvSpPr>
          <p:spPr>
            <a:xfrm>
              <a:off x="5797824" y="3301317"/>
              <a:ext cx="6188435" cy="3385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Main Objective: 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 predict the probability of a firm reporting a loss.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5F64C68-23D4-9206-CC1D-6F847F3C6089}"/>
                </a:ext>
              </a:extLst>
            </p:cNvPr>
            <p:cNvSpPr txBox="1"/>
            <p:nvPr/>
          </p:nvSpPr>
          <p:spPr>
            <a:xfrm>
              <a:off x="5797824" y="3855064"/>
              <a:ext cx="6188435" cy="26314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sz="1600" b="1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Specific Objectives</a:t>
              </a:r>
            </a:p>
            <a:p>
              <a:pPr marL="285750" indent="-285750" algn="just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v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Empirically identify firm-level characteristics associated with loss reporting in CIT returns.</a:t>
              </a:r>
            </a:p>
            <a:p>
              <a:pPr marL="285750" indent="-285750" algn="just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v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Develop a supervised predictive model to estimate the probability of a firm reporting a loss.</a:t>
              </a:r>
            </a:p>
            <a:p>
              <a:pPr marL="285750" indent="-285750" algn="just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v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Assess the concentration and distribution of loss behavior across sectors and firm groups.</a:t>
              </a:r>
            </a:p>
            <a:p>
              <a:pPr marL="285750" indent="-285750" algn="just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v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Translate firm-level loss probabilities into insights on aggregate CIT revenue risk.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04E37070-7554-4F96-A6E7-7FE888601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414557"/>
            <a:ext cx="5254486" cy="33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076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B33E3E-79B7-7935-573C-6446AEDB2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E9A8461-9F92-2B2F-FBFF-3F739287D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7D84A75-D700-616F-C1EC-72551B54C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207120"/>
            <a:ext cx="804195" cy="0"/>
          </a:xfrm>
          <a:prstGeom prst="line">
            <a:avLst/>
          </a:prstGeom>
          <a:ln w="1238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76052341-2386-ED80-8F5A-AE0091737A31}"/>
              </a:ext>
            </a:extLst>
          </p:cNvPr>
          <p:cNvSpPr txBox="1">
            <a:spLocks/>
          </p:cNvSpPr>
          <p:nvPr/>
        </p:nvSpPr>
        <p:spPr>
          <a:xfrm>
            <a:off x="-1" y="-31958"/>
            <a:ext cx="12191999" cy="415726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understanding and Overview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D32BE0-DF6D-D7E6-930C-66ABA8671DAE}"/>
              </a:ext>
            </a:extLst>
          </p:cNvPr>
          <p:cNvSpPr txBox="1"/>
          <p:nvPr/>
        </p:nvSpPr>
        <p:spPr>
          <a:xfrm>
            <a:off x="0" y="780257"/>
            <a:ext cx="5705061" cy="227754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91440" indent="-1714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is based on raw 2024 Corporate Income Tax (CIT) return data obtained from administrative tax filings. The dataset contains:</a:t>
            </a:r>
          </a:p>
          <a:p>
            <a:pPr marL="548640" lvl="2" indent="-28575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313,870 firm-year observations</a:t>
            </a:r>
          </a:p>
          <a:p>
            <a:pPr marL="548640" lvl="2" indent="-28575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61 variables</a:t>
            </a:r>
          </a:p>
          <a:p>
            <a:pPr marL="1005840" lvl="4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47 numeric variables (primarily financial statement items)</a:t>
            </a:r>
          </a:p>
          <a:p>
            <a:pPr marL="1005840" lvl="4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 categorical variables, mainly capturing:</a:t>
            </a:r>
          </a:p>
          <a:p>
            <a:pPr marL="1463040" lvl="6" indent="-2857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Sector classification</a:t>
            </a:r>
          </a:p>
          <a:p>
            <a:pPr marL="1463040" lvl="6" indent="-2857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Firm size categories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DA2764-66FB-F059-7F90-9A5A599DC059}"/>
              </a:ext>
            </a:extLst>
          </p:cNvPr>
          <p:cNvSpPr txBox="1"/>
          <p:nvPr/>
        </p:nvSpPr>
        <p:spPr>
          <a:xfrm>
            <a:off x="1" y="427349"/>
            <a:ext cx="5705060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618CEED-7948-4813-724C-806E3A0AD8BC}"/>
              </a:ext>
            </a:extLst>
          </p:cNvPr>
          <p:cNvGrpSpPr/>
          <p:nvPr/>
        </p:nvGrpSpPr>
        <p:grpSpPr>
          <a:xfrm>
            <a:off x="23190" y="3429000"/>
            <a:ext cx="5681871" cy="1335335"/>
            <a:chOff x="0" y="3784160"/>
            <a:chExt cx="6814055" cy="1335335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B59A169-B531-67E4-71FC-88C285333BC5}"/>
                </a:ext>
              </a:extLst>
            </p:cNvPr>
            <p:cNvSpPr txBox="1"/>
            <p:nvPr/>
          </p:nvSpPr>
          <p:spPr>
            <a:xfrm>
              <a:off x="1" y="3784160"/>
              <a:ext cx="6814054" cy="3385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algn="just"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Target Variable Definition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E284336-BD3D-317B-DF2E-3E6751A52481}"/>
                </a:ext>
              </a:extLst>
            </p:cNvPr>
            <p:cNvSpPr txBox="1"/>
            <p:nvPr/>
          </p:nvSpPr>
          <p:spPr>
            <a:xfrm>
              <a:off x="0" y="4149999"/>
              <a:ext cx="6814054" cy="96949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marL="91440" indent="-171450" algn="just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target variable is defined as: </a:t>
              </a:r>
            </a:p>
            <a:p>
              <a:pPr marL="662940" lvl="1" indent="-285750" algn="just">
                <a:spcBef>
                  <a:spcPts val="600"/>
                </a:spcBef>
                <a:buFont typeface="Wingdings" panose="05000000000000000000" pitchFamily="2" charset="2"/>
                <a:buChar char="v"/>
              </a:pPr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is_loss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1 if Profit Before Tax (PBT) &lt; 0</a:t>
              </a:r>
            </a:p>
            <a:p>
              <a:pPr marL="662940" lvl="1" indent="-285750" algn="just">
                <a:spcBef>
                  <a:spcPts val="600"/>
                </a:spcBef>
                <a:buFont typeface="Wingdings" panose="05000000000000000000" pitchFamily="2" charset="2"/>
                <a:buChar char="v"/>
              </a:pPr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is_loss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0 otherwise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23684DD-AB97-658B-7950-6F41E90EDF4B}"/>
              </a:ext>
            </a:extLst>
          </p:cNvPr>
          <p:cNvGrpSpPr/>
          <p:nvPr/>
        </p:nvGrpSpPr>
        <p:grpSpPr>
          <a:xfrm>
            <a:off x="23190" y="4949118"/>
            <a:ext cx="5681870" cy="1365543"/>
            <a:chOff x="77417" y="3784160"/>
            <a:chExt cx="6783019" cy="1104503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4822E30-14A8-CE2F-4A66-3F84BE36A4E3}"/>
                </a:ext>
              </a:extLst>
            </p:cNvPr>
            <p:cNvSpPr txBox="1"/>
            <p:nvPr/>
          </p:nvSpPr>
          <p:spPr>
            <a:xfrm>
              <a:off x="77417" y="3784160"/>
              <a:ext cx="6783019" cy="3385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algn="just"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Analytical scope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CD62524-18D3-6C08-6A68-4BA8DD840F38}"/>
                </a:ext>
              </a:extLst>
            </p:cNvPr>
            <p:cNvSpPr txBox="1"/>
            <p:nvPr/>
          </p:nvSpPr>
          <p:spPr>
            <a:xfrm>
              <a:off x="77418" y="4149999"/>
              <a:ext cx="6783018" cy="73866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marL="91440" indent="-285750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Retain only firms with positive turnover, which serves as a proxy for active businesses. This excludes dormant or non-operational entities so as to reduce noise and bias the model toward structural losses rather than behavioral or economic risk.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FFA949F9-4E66-1D42-2486-5CA5B8762637}"/>
              </a:ext>
            </a:extLst>
          </p:cNvPr>
          <p:cNvSpPr txBox="1"/>
          <p:nvPr/>
        </p:nvSpPr>
        <p:spPr>
          <a:xfrm>
            <a:off x="6486941" y="383769"/>
            <a:ext cx="5589104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Balance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moderately imbalanced a with approximately 36 loss firms and 64 non-loss firms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9CB6CD-9BDF-FAEA-E993-F88487607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0439" y="1024614"/>
            <a:ext cx="4976181" cy="4833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84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154417-BE69-9C2D-8077-8CF01A63D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C16E594-27E9-D21C-C281-BFF6C7EE6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1E40E18-352C-4EF6-FA10-862C48D37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207120"/>
            <a:ext cx="804195" cy="0"/>
          </a:xfrm>
          <a:prstGeom prst="line">
            <a:avLst/>
          </a:prstGeom>
          <a:ln w="1238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1DEA9C80-2B46-DFC9-347E-E2396345DC91}"/>
              </a:ext>
            </a:extLst>
          </p:cNvPr>
          <p:cNvSpPr txBox="1">
            <a:spLocks/>
          </p:cNvSpPr>
          <p:nvPr/>
        </p:nvSpPr>
        <p:spPr>
          <a:xfrm>
            <a:off x="-1" y="-31958"/>
            <a:ext cx="12191999" cy="415726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/>
                </a:solidFill>
              </a:rPr>
              <a:t>Data Cleaning and Feature Engineering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81E27B-E0E6-8100-AD47-065AE9DF060F}"/>
              </a:ext>
            </a:extLst>
          </p:cNvPr>
          <p:cNvSpPr txBox="1"/>
          <p:nvPr/>
        </p:nvSpPr>
        <p:spPr>
          <a:xfrm>
            <a:off x="0" y="1070790"/>
            <a:ext cx="5705061" cy="14773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91440" indent="-1714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data checks performed ; with more focus on :</a:t>
            </a:r>
          </a:p>
          <a:p>
            <a:pPr marL="91440" indent="-1714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values,</a:t>
            </a:r>
          </a:p>
          <a:p>
            <a:pPr marL="91440" indent="-1714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Duplicates</a:t>
            </a:r>
          </a:p>
          <a:p>
            <a:pPr marL="91440" indent="-1714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Coercion of mostly-numeric object columns to numeric types.</a:t>
            </a:r>
          </a:p>
          <a:p>
            <a:pPr marL="91440" indent="-1714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 sanity checks(Turnover, costs , profit etc.)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C7C165-6491-CF3E-4BE4-905CC2DCD141}"/>
              </a:ext>
            </a:extLst>
          </p:cNvPr>
          <p:cNvSpPr txBox="1"/>
          <p:nvPr/>
        </p:nvSpPr>
        <p:spPr>
          <a:xfrm>
            <a:off x="-22315" y="683310"/>
            <a:ext cx="5705060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Data quality Checks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9C3A28-A6F3-FC32-4DEB-C300F6D17872}"/>
              </a:ext>
            </a:extLst>
          </p:cNvPr>
          <p:cNvSpPr txBox="1"/>
          <p:nvPr/>
        </p:nvSpPr>
        <p:spPr>
          <a:xfrm>
            <a:off x="-1" y="3088895"/>
            <a:ext cx="5705061" cy="140038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91440" indent="-1714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Sector names standardized</a:t>
            </a:r>
          </a:p>
          <a:p>
            <a:pPr marL="91440" indent="-1714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Rare sectors grouped for stability</a:t>
            </a:r>
          </a:p>
          <a:p>
            <a:pPr marL="91440" indent="-1714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accounting fields aligned: Turnover Profit before tax,, Allowable deductions</a:t>
            </a:r>
          </a:p>
          <a:p>
            <a:pPr marL="91440" indent="-1714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High-missing variables tagged (≥60%) and excluded from modelling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668F2D-A71C-1744-B3F7-CA9B03A833E9}"/>
              </a:ext>
            </a:extLst>
          </p:cNvPr>
          <p:cNvSpPr txBox="1"/>
          <p:nvPr/>
        </p:nvSpPr>
        <p:spPr>
          <a:xfrm>
            <a:off x="0" y="2750341"/>
            <a:ext cx="5705060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Standardization key categorical fields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9A5D5B-9711-3598-ABD9-F57E4DFD058B}"/>
              </a:ext>
            </a:extLst>
          </p:cNvPr>
          <p:cNvSpPr txBox="1"/>
          <p:nvPr/>
        </p:nvSpPr>
        <p:spPr>
          <a:xfrm>
            <a:off x="0" y="4948330"/>
            <a:ext cx="5705061" cy="19851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91440" indent="-1714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comparability and validity, restriction of the modelling sample  was done to firms that meet all of the following conditions:</a:t>
            </a:r>
          </a:p>
          <a:p>
            <a:pPr marL="662940" lvl="1" indent="-28575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Non-missing gross turnover</a:t>
            </a:r>
          </a:p>
          <a:p>
            <a:pPr marL="662940" lvl="1" indent="-28575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gross turnover (active firms)</a:t>
            </a:r>
          </a:p>
          <a:p>
            <a:pPr marL="662940" lvl="1" indent="-28575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Non-missing profit before tax</a:t>
            </a:r>
          </a:p>
          <a:p>
            <a:pPr marL="205740" indent="-2857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reduces  records/ data for modelling to 99,332 with 70 columns</a:t>
            </a:r>
          </a:p>
          <a:p>
            <a:pPr marL="205740" indent="-2857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imbalance is maintained for sample.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0DB7A4-B7A9-770D-B8FB-00F713AC2030}"/>
              </a:ext>
            </a:extLst>
          </p:cNvPr>
          <p:cNvSpPr txBox="1"/>
          <p:nvPr/>
        </p:nvSpPr>
        <p:spPr>
          <a:xfrm>
            <a:off x="5946569" y="657733"/>
            <a:ext cx="5705060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stage translates raw accounting line items into economically meaningful indicators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DC7C48-B8EE-8016-5C03-FEB3E45985A4}"/>
              </a:ext>
            </a:extLst>
          </p:cNvPr>
          <p:cNvSpPr txBox="1"/>
          <p:nvPr/>
        </p:nvSpPr>
        <p:spPr>
          <a:xfrm>
            <a:off x="2" y="4600416"/>
            <a:ext cx="5705060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Restricting the Modelling Sample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B14286-1826-14E2-6CD1-2C7542B8A1D2}"/>
              </a:ext>
            </a:extLst>
          </p:cNvPr>
          <p:cNvSpPr txBox="1"/>
          <p:nvPr/>
        </p:nvSpPr>
        <p:spPr>
          <a:xfrm>
            <a:off x="-22317" y="329367"/>
            <a:ext cx="2027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endParaRPr lang="en-US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09A606-9667-387C-BDCC-8990F0DA0B15}"/>
              </a:ext>
            </a:extLst>
          </p:cNvPr>
          <p:cNvSpPr txBox="1"/>
          <p:nvPr/>
        </p:nvSpPr>
        <p:spPr>
          <a:xfrm>
            <a:off x="5862866" y="383768"/>
            <a:ext cx="3074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Feature Engineering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3A30950-D1D4-49B6-EA5D-E756214F0757}"/>
              </a:ext>
            </a:extLst>
          </p:cNvPr>
          <p:cNvGrpSpPr/>
          <p:nvPr/>
        </p:nvGrpSpPr>
        <p:grpSpPr>
          <a:xfrm>
            <a:off x="5946567" y="3967787"/>
            <a:ext cx="5705061" cy="2059640"/>
            <a:chOff x="5946568" y="1244698"/>
            <a:chExt cx="5705061" cy="205964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8D2FE33-0777-8A42-247B-AD7C54681980}"/>
                </a:ext>
              </a:extLst>
            </p:cNvPr>
            <p:cNvSpPr txBox="1"/>
            <p:nvPr/>
          </p:nvSpPr>
          <p:spPr>
            <a:xfrm>
              <a:off x="5946568" y="1534623"/>
              <a:ext cx="5705061" cy="1769715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marL="91440" indent="-171450">
                <a:spcBef>
                  <a:spcPts val="600"/>
                </a:spcBef>
                <a:buFont typeface="Wingdings" panose="05000000000000000000" pitchFamily="2" charset="2"/>
                <a:buChar char="q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Construction of  a set of the following ratios:</a:t>
              </a:r>
            </a:p>
            <a:p>
              <a:pPr marL="662940" lvl="1" indent="-285750">
                <a:spcBef>
                  <a:spcPts val="600"/>
                </a:spcBef>
                <a:buFont typeface="Wingdings" panose="05000000000000000000" pitchFamily="2" charset="2"/>
                <a:buChar char="v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Cost-to-Turnover: Revenue absorbed by direct costs</a:t>
              </a:r>
            </a:p>
            <a:p>
              <a:pPr marL="662940" lvl="1" indent="-285750">
                <a:spcBef>
                  <a:spcPts val="600"/>
                </a:spcBef>
                <a:buFont typeface="Wingdings" panose="05000000000000000000" pitchFamily="2" charset="2"/>
                <a:buChar char="v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Admin Cost Ratio: Overhead intensity</a:t>
              </a:r>
            </a:p>
            <a:p>
              <a:pPr marL="662940" lvl="1" indent="-285750">
                <a:spcBef>
                  <a:spcPts val="600"/>
                </a:spcBef>
                <a:buFont typeface="Wingdings" panose="05000000000000000000" pitchFamily="2" charset="2"/>
                <a:buChar char="v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Employment Cost Ratio: </a:t>
              </a:r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Labour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cost pressure</a:t>
              </a:r>
            </a:p>
            <a:p>
              <a:pPr marL="662940" lvl="1" indent="-285750">
                <a:spcBef>
                  <a:spcPts val="600"/>
                </a:spcBef>
                <a:buFont typeface="Wingdings" panose="05000000000000000000" pitchFamily="2" charset="2"/>
                <a:buChar char="v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Financing Cost Ratio: Leverage / debt stress</a:t>
              </a:r>
            </a:p>
            <a:p>
              <a:pPr marL="662940" lvl="1" indent="-285750">
                <a:spcBef>
                  <a:spcPts val="600"/>
                </a:spcBef>
                <a:buFont typeface="Wingdings" panose="05000000000000000000" pitchFamily="2" charset="2"/>
                <a:buChar char="v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Deductions-to-Turnover: Reliance on allowable deductions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22ECC84-B9DC-43D3-2CD8-5B02121D94C6}"/>
                </a:ext>
              </a:extLst>
            </p:cNvPr>
            <p:cNvSpPr txBox="1"/>
            <p:nvPr/>
          </p:nvSpPr>
          <p:spPr>
            <a:xfrm>
              <a:off x="5946569" y="1244698"/>
              <a:ext cx="5705060" cy="3385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algn="just"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Ratio-Based Core Features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933E1BE-DCFF-57BB-F14A-BA7819CC1545}"/>
              </a:ext>
            </a:extLst>
          </p:cNvPr>
          <p:cNvGrpSpPr/>
          <p:nvPr/>
        </p:nvGrpSpPr>
        <p:grpSpPr>
          <a:xfrm>
            <a:off x="5946568" y="1285300"/>
            <a:ext cx="5705061" cy="2413583"/>
            <a:chOff x="5946568" y="1244698"/>
            <a:chExt cx="5705061" cy="2413583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6E83057-BB99-2795-DF85-CEA395A9C602}"/>
                </a:ext>
              </a:extLst>
            </p:cNvPr>
            <p:cNvSpPr txBox="1"/>
            <p:nvPr/>
          </p:nvSpPr>
          <p:spPr>
            <a:xfrm>
              <a:off x="5946568" y="1534623"/>
              <a:ext cx="5705061" cy="212365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marL="91440" indent="-171450">
                <a:spcBef>
                  <a:spcPts val="600"/>
                </a:spcBef>
                <a:buFont typeface="Wingdings" panose="05000000000000000000" pitchFamily="2" charset="2"/>
                <a:buChar char="q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Feature construction follows four guiding principles:</a:t>
              </a:r>
            </a:p>
            <a:p>
              <a:pPr marL="662940" lvl="1" indent="-285750">
                <a:spcBef>
                  <a:spcPts val="600"/>
                </a:spcBef>
                <a:buFont typeface="Wingdings" panose="05000000000000000000" pitchFamily="2" charset="2"/>
                <a:buChar char="v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Economic interpretability: Features reflect clear business concepts (costs, leverage)</a:t>
              </a:r>
            </a:p>
            <a:p>
              <a:pPr marL="662940" lvl="1" indent="-285750">
                <a:spcBef>
                  <a:spcPts val="600"/>
                </a:spcBef>
                <a:buFont typeface="Wingdings" panose="05000000000000000000" pitchFamily="2" charset="2"/>
                <a:buChar char="v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Scale normalization: Ratios relative to turnover for comparability across firm sizes.</a:t>
              </a:r>
            </a:p>
            <a:p>
              <a:pPr marL="662940" lvl="1" indent="-285750">
                <a:spcBef>
                  <a:spcPts val="600"/>
                </a:spcBef>
                <a:buFont typeface="Wingdings" panose="05000000000000000000" pitchFamily="2" charset="2"/>
                <a:buChar char="v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Leakage avoidance: No features derived from profit/target</a:t>
              </a:r>
              <a:r>
                <a:rPr lang="en-US" sz="1400" dirty="0"/>
                <a:t>.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662940" lvl="1" indent="-285750">
                <a:spcBef>
                  <a:spcPts val="600"/>
                </a:spcBef>
                <a:buFont typeface="Wingdings" panose="05000000000000000000" pitchFamily="2" charset="2"/>
                <a:buChar char="v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Noise robustness: Safe divisions and explicit missing-value handling.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868C755-3C05-A65F-921B-4A344AECC5B1}"/>
                </a:ext>
              </a:extLst>
            </p:cNvPr>
            <p:cNvSpPr txBox="1"/>
            <p:nvPr/>
          </p:nvSpPr>
          <p:spPr>
            <a:xfrm>
              <a:off x="5946569" y="1244698"/>
              <a:ext cx="5705060" cy="3385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algn="just"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Design Principles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7197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07C166-1F78-8B01-C536-3E4E3124D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1909C7-0A71-F3ED-2F33-BB8C27D52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7E85FCE-9108-64AC-ECAC-355D2183FF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207120"/>
            <a:ext cx="804195" cy="0"/>
          </a:xfrm>
          <a:prstGeom prst="line">
            <a:avLst/>
          </a:prstGeom>
          <a:ln w="1238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84DE5380-B89A-EEE2-AA4F-9DDD543EDA22}"/>
              </a:ext>
            </a:extLst>
          </p:cNvPr>
          <p:cNvSpPr txBox="1">
            <a:spLocks/>
          </p:cNvSpPr>
          <p:nvPr/>
        </p:nvSpPr>
        <p:spPr>
          <a:xfrm>
            <a:off x="-1" y="-31958"/>
            <a:ext cx="12191999" cy="415726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/>
                </a:solidFill>
              </a:rPr>
              <a:t>Data Cleaning and Feature Engineering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57E2B70-4CD0-E3B6-E897-69C4124DE2A1}"/>
              </a:ext>
            </a:extLst>
          </p:cNvPr>
          <p:cNvGrpSpPr/>
          <p:nvPr/>
        </p:nvGrpSpPr>
        <p:grpSpPr>
          <a:xfrm>
            <a:off x="27990" y="746637"/>
            <a:ext cx="11062662" cy="1971122"/>
            <a:chOff x="12034" y="699046"/>
            <a:chExt cx="5783966" cy="1661993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CFE31B4-79AD-770B-7B19-FCE77D8C15EB}"/>
                </a:ext>
              </a:extLst>
            </p:cNvPr>
            <p:cNvSpPr txBox="1"/>
            <p:nvPr/>
          </p:nvSpPr>
          <p:spPr>
            <a:xfrm>
              <a:off x="12034" y="1037600"/>
              <a:ext cx="5783966" cy="132343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marL="91440" indent="-171450" algn="just">
                <a:spcBef>
                  <a:spcPts val="600"/>
                </a:spcBef>
                <a:buFont typeface="Wingdings" panose="05000000000000000000" pitchFamily="2" charset="2"/>
                <a:buChar char="q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As loss risk is often non-linear, firms near cost saturation behave differently from those with healthy margins. The following binary indicators were used: </a:t>
              </a:r>
            </a:p>
            <a:p>
              <a:pPr marL="662940" lvl="1" indent="-285750" algn="just">
                <a:spcBef>
                  <a:spcPts val="600"/>
                </a:spcBef>
                <a:buFont typeface="Wingdings" panose="05000000000000000000" pitchFamily="2" charset="2"/>
                <a:buChar char="v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High-Cost Flag: Cost-to-turnover &gt; 90% → extreme cost pressure</a:t>
              </a:r>
            </a:p>
            <a:p>
              <a:pPr marL="662940" lvl="1" indent="-285750" algn="just">
                <a:spcBef>
                  <a:spcPts val="600"/>
                </a:spcBef>
                <a:buFont typeface="Wingdings" panose="05000000000000000000" pitchFamily="2" charset="2"/>
                <a:buChar char="v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Thin-Margin Flag: Margin 95–105% → near break-even, vulnerable to shocks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9053F5F-6BD8-DB9C-1A9A-12CDE4EB738D}"/>
                </a:ext>
              </a:extLst>
            </p:cNvPr>
            <p:cNvSpPr txBox="1"/>
            <p:nvPr/>
          </p:nvSpPr>
          <p:spPr>
            <a:xfrm>
              <a:off x="20307" y="699046"/>
              <a:ext cx="5775693" cy="28545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algn="just"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Binary Indicators for Threshold Effects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D6C5F52-9565-9C87-D241-CCEC9F342592}"/>
              </a:ext>
            </a:extLst>
          </p:cNvPr>
          <p:cNvGrpSpPr/>
          <p:nvPr/>
        </p:nvGrpSpPr>
        <p:grpSpPr>
          <a:xfrm>
            <a:off x="43813" y="2899882"/>
            <a:ext cx="11070340" cy="1509772"/>
            <a:chOff x="12033" y="3000651"/>
            <a:chExt cx="12574917" cy="895939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BE76E4A8-9D93-95DF-2EEB-8943D7F2259B}"/>
                </a:ext>
              </a:extLst>
            </p:cNvPr>
            <p:cNvSpPr txBox="1"/>
            <p:nvPr/>
          </p:nvSpPr>
          <p:spPr>
            <a:xfrm>
              <a:off x="20759" y="3373370"/>
              <a:ext cx="12566191" cy="52322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marL="91440" indent="-171450" algn="just">
                <a:spcBef>
                  <a:spcPts val="600"/>
                </a:spcBef>
                <a:buFont typeface="Wingdings" panose="05000000000000000000" pitchFamily="2" charset="2"/>
                <a:buChar char="q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Firms are also grouped into turnover quartiles:Q1 (smallest firms) → Q4 (largest firms) so as to capture scale effects and identify whether loss incidence is concentrated among smaller or larger firms and to support policy-relevant segmentation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45E47D5-3EA9-27A3-0BD0-C859963CD146}"/>
                </a:ext>
              </a:extLst>
            </p:cNvPr>
            <p:cNvSpPr txBox="1"/>
            <p:nvPr/>
          </p:nvSpPr>
          <p:spPr>
            <a:xfrm>
              <a:off x="12033" y="3000651"/>
              <a:ext cx="12566196" cy="3385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algn="just"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Turnover Stratification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9CC40BD-39BC-CE1B-2449-7B57B0C249A9}"/>
              </a:ext>
            </a:extLst>
          </p:cNvPr>
          <p:cNvGrpSpPr/>
          <p:nvPr/>
        </p:nvGrpSpPr>
        <p:grpSpPr>
          <a:xfrm>
            <a:off x="51495" y="4771337"/>
            <a:ext cx="10866220" cy="1387619"/>
            <a:chOff x="-22314" y="4663331"/>
            <a:chExt cx="9177330" cy="792947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11C373E-802E-8CD7-F5D9-44766659C3DA}"/>
                </a:ext>
              </a:extLst>
            </p:cNvPr>
            <p:cNvSpPr txBox="1"/>
            <p:nvPr/>
          </p:nvSpPr>
          <p:spPr>
            <a:xfrm>
              <a:off x="12033" y="4856114"/>
              <a:ext cx="9142983" cy="60016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marL="91440" indent="-171450" algn="just">
                <a:spcBef>
                  <a:spcPts val="600"/>
                </a:spcBef>
                <a:buFont typeface="Wingdings" panose="05000000000000000000" pitchFamily="2" charset="2"/>
                <a:buChar char="q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Uncontrolled outliers can dominate model estimation, leading to unstable and misleading results.</a:t>
              </a:r>
            </a:p>
            <a:p>
              <a:pPr marL="91440" indent="-171450" algn="just">
                <a:spcBef>
                  <a:spcPts val="600"/>
                </a:spcBef>
                <a:buFont typeface="Wingdings" panose="05000000000000000000" pitchFamily="2" charset="2"/>
                <a:buChar char="q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Each ratio feature is  </a:t>
              </a:r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winsorised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at the 1</a:t>
              </a:r>
              <a:r>
                <a:rPr lang="en-US" sz="14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and 99</a:t>
              </a:r>
              <a:r>
                <a:rPr lang="en-US" sz="14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Percentiles where the extreme low and high values are capped.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522CF78-828F-D3AF-91E1-0B370F29F42C}"/>
                </a:ext>
              </a:extLst>
            </p:cNvPr>
            <p:cNvSpPr txBox="1"/>
            <p:nvPr/>
          </p:nvSpPr>
          <p:spPr>
            <a:xfrm>
              <a:off x="-22314" y="4663331"/>
              <a:ext cx="9177330" cy="18365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algn="just">
                <a:spcBef>
                  <a:spcPts val="600"/>
                </a:spcBef>
                <a:spcAft>
                  <a:spcPts val="600"/>
                </a:spcAft>
              </a:pP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Outlier Handling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83717842-1DB2-AF37-B81B-BF1E771BE7DA}"/>
              </a:ext>
            </a:extLst>
          </p:cNvPr>
          <p:cNvSpPr txBox="1"/>
          <p:nvPr/>
        </p:nvSpPr>
        <p:spPr>
          <a:xfrm>
            <a:off x="-101221" y="345347"/>
            <a:ext cx="4719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Feature Engineering…cont.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4120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88B256-423D-B19B-B40E-EA41B569E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EE5C5EC-C9EC-368F-7E8E-A7986B215F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E85FD9-53A3-6D86-1254-1E19A27AA8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" y="32527"/>
            <a:ext cx="12191999" cy="402766"/>
          </a:xfrm>
          <a:solidFill>
            <a:srgbClr val="00B0F0"/>
          </a:solidFill>
        </p:spPr>
        <p:txBody>
          <a:bodyPr anchor="t">
            <a:no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Exploratory Data Analysis – Key Patterns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A25CE5-78F2-5846-BE09-66581813E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207120"/>
            <a:ext cx="804195" cy="0"/>
          </a:xfrm>
          <a:prstGeom prst="line">
            <a:avLst/>
          </a:prstGeom>
          <a:ln w="1238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2">
            <a:extLst>
              <a:ext uri="{FF2B5EF4-FFF2-40B4-BE49-F238E27FC236}">
                <a16:creationId xmlns:a16="http://schemas.microsoft.com/office/drawing/2014/main" id="{64CBB7DC-4B88-9E96-F6C1-13830FF7121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-2" y="474572"/>
            <a:ext cx="12192002" cy="32836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shows strong and intuitive separation between loss and non‑loss firms: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72BF11-7434-87F1-3E94-E4AA20AC9C66}"/>
              </a:ext>
            </a:extLst>
          </p:cNvPr>
          <p:cNvSpPr txBox="1"/>
          <p:nvPr/>
        </p:nvSpPr>
        <p:spPr>
          <a:xfrm>
            <a:off x="132206" y="4827196"/>
            <a:ext cx="3888408" cy="132343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Firm size:</a:t>
            </a:r>
          </a:p>
          <a:p>
            <a:pPr marL="91440" indent="-1714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rates exceed 40% in the bottom turnover quartiles</a:t>
            </a:r>
          </a:p>
          <a:p>
            <a:pPr marL="91440" indent="-1714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Decline steadily with size, but remain material even among large firms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5724BE-B24D-053A-3964-CECB33233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52471" y="909865"/>
            <a:ext cx="4208375" cy="37992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17F031-F6BF-B909-DC4E-B20C44FA4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4882" y="873449"/>
            <a:ext cx="7216048" cy="41493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FE611D3-65C3-A138-F800-C5C03229067A}"/>
              </a:ext>
            </a:extLst>
          </p:cNvPr>
          <p:cNvSpPr txBox="1"/>
          <p:nvPr/>
        </p:nvSpPr>
        <p:spPr>
          <a:xfrm>
            <a:off x="4770303" y="4827196"/>
            <a:ext cx="6320007" cy="183127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rate by sector</a:t>
            </a:r>
          </a:p>
          <a:p>
            <a:pPr marL="91440" indent="-1714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chart shows the loss rates  within the largest sectors. This restricts attention to sectors with many firms, it reveals which economically important sectors also exhibit elevated loss incidence. </a:t>
            </a:r>
          </a:p>
          <a:p>
            <a:pPr marL="91440" indent="-1714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sectors are prone to loss rate incidences, however, the losses are concentrated in certain sectors</a:t>
            </a:r>
          </a:p>
          <a:p>
            <a:pPr marL="91440" indent="-1714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7870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A6C460-6D8F-786C-06FF-04328F0AD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F3F720B-EF86-14DA-C031-451AE581F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5ABBB1-C1DD-CC46-5866-E0AE265246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" y="32527"/>
            <a:ext cx="12191999" cy="402766"/>
          </a:xfrm>
          <a:solidFill>
            <a:srgbClr val="00B0F0"/>
          </a:solidFill>
        </p:spPr>
        <p:txBody>
          <a:bodyPr anchor="t">
            <a:no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Exploratory Data Analysis – Key Patterns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22F7A18-AE1E-1EF4-3A51-1B560A574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207120"/>
            <a:ext cx="804195" cy="0"/>
          </a:xfrm>
          <a:prstGeom prst="line">
            <a:avLst/>
          </a:prstGeom>
          <a:ln w="1238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2">
            <a:extLst>
              <a:ext uri="{FF2B5EF4-FFF2-40B4-BE49-F238E27FC236}">
                <a16:creationId xmlns:a16="http://schemas.microsoft.com/office/drawing/2014/main" id="{1EE7D139-6D14-AD42-7582-A32DA1C2ED1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-2" y="474572"/>
            <a:ext cx="12192002" cy="32836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shows strong and intuitive separation between loss and non‑loss firms: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66E3B6-93E5-CDF6-7A4B-1ED2197D1691}"/>
              </a:ext>
            </a:extLst>
          </p:cNvPr>
          <p:cNvSpPr txBox="1"/>
          <p:nvPr/>
        </p:nvSpPr>
        <p:spPr>
          <a:xfrm>
            <a:off x="198304" y="5194835"/>
            <a:ext cx="11597086" cy="183127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rate by sector</a:t>
            </a:r>
          </a:p>
          <a:p>
            <a:pPr marL="91440" indent="-1714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The panel A chart shows the size of a sector, highlighting where economic activity is most concentrated, such as construction and wholesale &amp; retail trade, but it does not indicate whether firms in these sectors are profitable or loss-making. This chart shows the size of a sector.</a:t>
            </a:r>
          </a:p>
          <a:p>
            <a:pPr marL="91440" indent="-1714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" indent="-1714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The Panel B chart is  interpreted as a measure of risk intensity and shows risker sectors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interms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tunrover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depicted by loss rate.  This ranks sectors by the %age of firms reporting losses, regardless of how many firms the sector contains. As a result, some sectors with relatively few firms appear at the top because they have a high incidence of losses.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D3FAD2-2337-C584-4BC4-BEE27D791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8642"/>
            <a:ext cx="12192000" cy="4396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714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7F4B31-0027-C9CB-3F3C-5C1427066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B80841B-0AB4-FE81-1AB3-2B7FE5FBC9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EA2BB9-6993-5ECD-B55F-62519870A1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" y="32527"/>
            <a:ext cx="12191999" cy="402766"/>
          </a:xfrm>
          <a:solidFill>
            <a:srgbClr val="00B0F0"/>
          </a:solidFill>
        </p:spPr>
        <p:txBody>
          <a:bodyPr anchor="t">
            <a:no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Exploratory Data Analysis – Key Patterns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3395C98-AF23-036D-319C-7E43D4173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207120"/>
            <a:ext cx="804195" cy="0"/>
          </a:xfrm>
          <a:prstGeom prst="line">
            <a:avLst/>
          </a:prstGeom>
          <a:ln w="1238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2">
            <a:extLst>
              <a:ext uri="{FF2B5EF4-FFF2-40B4-BE49-F238E27FC236}">
                <a16:creationId xmlns:a16="http://schemas.microsoft.com/office/drawing/2014/main" id="{2D2E8E23-AB31-FECC-1C6C-4E0FAA50003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-2" y="474572"/>
            <a:ext cx="12192002" cy="32836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shows strong and intuitive separation between loss and non‑loss firms: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637725-832F-015C-BA0C-B33F1573799C}"/>
              </a:ext>
            </a:extLst>
          </p:cNvPr>
          <p:cNvSpPr txBox="1"/>
          <p:nvPr/>
        </p:nvSpPr>
        <p:spPr>
          <a:xfrm>
            <a:off x="-2" y="4529985"/>
            <a:ext cx="3762495" cy="226215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intensity:</a:t>
            </a:r>
          </a:p>
          <a:p>
            <a:pPr marL="91440" indent="-1714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firms show higher medians and heavy right tails  indicating structural cost pressure.</a:t>
            </a:r>
          </a:p>
          <a:p>
            <a:pPr marL="91440" indent="-1714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Firms that make losses consistently spend more relative to their turnover than profitable firms. </a:t>
            </a:r>
          </a:p>
          <a:p>
            <a:pPr marL="91440" indent="-1714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pattern is seen across the full range of firms, not just extreme cases, indicating that high operating costs are a core driver of financial distress.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775D86-93D5-FA60-9E3E-B743E3DA6C13}"/>
              </a:ext>
            </a:extLst>
          </p:cNvPr>
          <p:cNvSpPr txBox="1"/>
          <p:nvPr/>
        </p:nvSpPr>
        <p:spPr>
          <a:xfrm>
            <a:off x="4299291" y="4569142"/>
            <a:ext cx="3544954" cy="196977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Financing costs:</a:t>
            </a:r>
          </a:p>
          <a:p>
            <a:pPr marL="91440" indent="-1714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Right‑skewed among loss firms, suggesting leverage and financing structure effects.</a:t>
            </a:r>
          </a:p>
          <a:p>
            <a:pPr marL="91440" indent="-1714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Finance cost are highly volatile for Loss Firms: while most firms have lower finance costs such as borrowing and interest rate costs, high ratios appear more often in loss firms adding volatility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CC29BE-FB90-026A-3076-1644A81A3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802934"/>
            <a:ext cx="3762496" cy="34826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C08D1A-DFCE-D0F9-CE8B-94EAA86B32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240" y="842211"/>
            <a:ext cx="3849005" cy="326708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7A8849B-9492-6DF9-751E-B73560E4B3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0281" y="786313"/>
            <a:ext cx="3999413" cy="332297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8C3B1A5-50F7-F22B-B1AE-BCE9D85F4518}"/>
              </a:ext>
            </a:extLst>
          </p:cNvPr>
          <p:cNvSpPr txBox="1"/>
          <p:nvPr/>
        </p:nvSpPr>
        <p:spPr>
          <a:xfrm>
            <a:off x="8384740" y="4569142"/>
            <a:ext cx="3544954" cy="175432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 cost intensity :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chart shows that 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 the typical loss-making firm has higher costs relative to sales than a typical profitable firm. 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difference is not driven by rare outliers, confirming that high costs are a consistent  issue for firms making losses.</a:t>
            </a:r>
          </a:p>
        </p:txBody>
      </p:sp>
    </p:spTree>
    <p:extLst>
      <p:ext uri="{BB962C8B-B14F-4D97-AF65-F5344CB8AC3E}">
        <p14:creationId xmlns:p14="http://schemas.microsoft.com/office/powerpoint/2010/main" val="1464708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78C167-8BD5-65B7-FA1C-DF7F417B2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023FCAD-C38B-C657-0EF0-D4965A1FB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104B82-EEB4-C686-62CF-8F2C1D8607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" y="32527"/>
            <a:ext cx="12191999" cy="402766"/>
          </a:xfrm>
          <a:solidFill>
            <a:srgbClr val="00B0F0"/>
          </a:solidFill>
        </p:spPr>
        <p:txBody>
          <a:bodyPr anchor="t">
            <a:no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Exploratory Data Analysis – Key Patterns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D61044F-453A-62AA-A500-E4C8D948F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207120"/>
            <a:ext cx="804195" cy="0"/>
          </a:xfrm>
          <a:prstGeom prst="line">
            <a:avLst/>
          </a:prstGeom>
          <a:ln w="1238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2">
            <a:extLst>
              <a:ext uri="{FF2B5EF4-FFF2-40B4-BE49-F238E27FC236}">
                <a16:creationId xmlns:a16="http://schemas.microsoft.com/office/drawing/2014/main" id="{696D1A2D-D0C8-E987-7B1E-929B8D0A426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-5" y="474573"/>
            <a:ext cx="12192002" cy="32836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shows strong and intuitive separation between loss and non‑loss firms: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FC0CD1-8AAF-EA0B-0B04-BD22FE60674E}"/>
              </a:ext>
            </a:extLst>
          </p:cNvPr>
          <p:cNvSpPr txBox="1"/>
          <p:nvPr/>
        </p:nvSpPr>
        <p:spPr>
          <a:xfrm>
            <a:off x="0" y="4478323"/>
            <a:ext cx="3635566" cy="196977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Employment Cost</a:t>
            </a:r>
          </a:p>
          <a:p>
            <a:pPr marL="91440" indent="-1714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Employment costs show strong separation: Loss-making firms tend to spend a higher proportion of their sales on staff costs than profitable firms. </a:t>
            </a:r>
          </a:p>
          <a:p>
            <a:pPr marL="91440" indent="-1714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wages are difficult to reduce quickly, high employment costs make these firms more susceptible to losses and financial strain.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3FA153-DFE9-4B6C-FB4D-4DA378490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" y="813379"/>
            <a:ext cx="4054724" cy="34433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3A95AF8-C6B8-C800-E92B-97FA2E6A4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4719" y="766194"/>
            <a:ext cx="3842824" cy="312384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01596D5-6539-6294-81BD-D05D8D906F62}"/>
              </a:ext>
            </a:extLst>
          </p:cNvPr>
          <p:cNvSpPr txBox="1"/>
          <p:nvPr/>
        </p:nvSpPr>
        <p:spPr>
          <a:xfrm>
            <a:off x="4054719" y="4478323"/>
            <a:ext cx="3683769" cy="196977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Probability:</a:t>
            </a:r>
          </a:p>
          <a:p>
            <a:pPr marL="91440" indent="-1714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probability rises sharply with cost intensity The chance of making a loss increases gradually with cost levels at first but rises sharply once costs reach high levels. </a:t>
            </a:r>
          </a:p>
          <a:p>
            <a:pPr marL="91440" indent="-1714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highlights a threshold effect where costs become unsustainable, and losses become much more likely.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302D991-AE23-3F2F-8251-210A28131E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7543" y="842213"/>
            <a:ext cx="4278230" cy="329163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E479BDC-039E-3FD7-A887-B93B5157C500}"/>
              </a:ext>
            </a:extLst>
          </p:cNvPr>
          <p:cNvSpPr txBox="1"/>
          <p:nvPr/>
        </p:nvSpPr>
        <p:spPr>
          <a:xfrm>
            <a:off x="8109438" y="4478323"/>
            <a:ext cx="3683769" cy="175432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structure interaction by Loss Status:</a:t>
            </a:r>
          </a:p>
          <a:p>
            <a:pPr marL="91440" indent="-1714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Firms with both high admin and high staff costs are much more likely to make losses.</a:t>
            </a:r>
          </a:p>
          <a:p>
            <a:pPr marL="91440" indent="-1714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Profitable firms usually keep at least one of these costs under control, showing that combined cost pressures are particularly dangerous.</a:t>
            </a:r>
          </a:p>
        </p:txBody>
      </p:sp>
    </p:spTree>
    <p:extLst>
      <p:ext uri="{BB962C8B-B14F-4D97-AF65-F5344CB8AC3E}">
        <p14:creationId xmlns:p14="http://schemas.microsoft.com/office/powerpoint/2010/main" val="343627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931536-901F-2BE7-0EAD-D4BB649FB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6867FB-DA6A-1198-9063-C4BC8CEA0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6405D3-6F28-614B-6760-529A7DA01F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" y="32526"/>
            <a:ext cx="5890593" cy="555163"/>
          </a:xfrm>
          <a:solidFill>
            <a:srgbClr val="00B0F0"/>
          </a:solidFill>
        </p:spPr>
        <p:txBody>
          <a:bodyPr anchor="t">
            <a:no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Data Preparation and Preprocessing Summary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62B9C5E-31DB-257D-2E41-BAC3EA47D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207120"/>
            <a:ext cx="804195" cy="0"/>
          </a:xfrm>
          <a:prstGeom prst="line">
            <a:avLst/>
          </a:prstGeom>
          <a:ln w="1238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2">
            <a:extLst>
              <a:ext uri="{FF2B5EF4-FFF2-40B4-BE49-F238E27FC236}">
                <a16:creationId xmlns:a16="http://schemas.microsoft.com/office/drawing/2014/main" id="{80E47FA9-51EC-4945-A305-EA0AC99FBF0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" y="753666"/>
            <a:ext cx="5783964" cy="32836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and Feature summary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DEC824-48AA-3080-EC5D-D05F0CA18901}"/>
              </a:ext>
            </a:extLst>
          </p:cNvPr>
          <p:cNvSpPr txBox="1"/>
          <p:nvPr/>
        </p:nvSpPr>
        <p:spPr>
          <a:xfrm>
            <a:off x="0" y="1087689"/>
            <a:ext cx="5783966" cy="30008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91440" indent="-1714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dataset (post-cleaning and feature engineering):</a:t>
            </a:r>
          </a:p>
          <a:p>
            <a:pPr marL="91440" indent="-1714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99,332 firm observations</a:t>
            </a:r>
          </a:p>
          <a:p>
            <a:pPr marL="91440" indent="-1714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into:</a:t>
            </a:r>
          </a:p>
          <a:p>
            <a:pPr marL="662940" lvl="1" indent="-285750" algn="just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set: 74,499 observations</a:t>
            </a:r>
          </a:p>
          <a:p>
            <a:pPr marL="662940" lvl="1" indent="-285750" algn="just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set: 24,833 observations</a:t>
            </a:r>
          </a:p>
          <a:p>
            <a:pPr marL="91440" indent="-1714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Explanatory features: 289: Which includes engineered ratios, structural flags, and one-hot encoded categorical controls.</a:t>
            </a:r>
          </a:p>
          <a:p>
            <a:pPr marL="91440" indent="-1714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set loss rate = 36%. This indicates moderate class imbalance, motivating metrics beyond simple accuracy such as ROC–AUC, Precision–Recall)</a:t>
            </a:r>
          </a:p>
          <a:p>
            <a:pPr marL="91440" indent="-1714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12A3DE9-471B-95EE-9636-882AFB62E95A}"/>
              </a:ext>
            </a:extLst>
          </p:cNvPr>
          <p:cNvCxnSpPr/>
          <p:nvPr/>
        </p:nvCxnSpPr>
        <p:spPr>
          <a:xfrm>
            <a:off x="5890591" y="435293"/>
            <a:ext cx="0" cy="6422707"/>
          </a:xfrm>
          <a:prstGeom prst="line">
            <a:avLst/>
          </a:prstGeom>
          <a:ln w="1270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>
            <a:extLst>
              <a:ext uri="{FF2B5EF4-FFF2-40B4-BE49-F238E27FC236}">
                <a16:creationId xmlns:a16="http://schemas.microsoft.com/office/drawing/2014/main" id="{2B1EB38C-9637-1BF2-94AC-9CA0B1D60B9E}"/>
              </a:ext>
            </a:extLst>
          </p:cNvPr>
          <p:cNvSpPr txBox="1">
            <a:spLocks/>
          </p:cNvSpPr>
          <p:nvPr/>
        </p:nvSpPr>
        <p:spPr>
          <a:xfrm>
            <a:off x="6175513" y="108724"/>
            <a:ext cx="5943600" cy="402766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/>
                </a:solidFill>
              </a:rPr>
              <a:t>Modelling Strategy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0D6B74B1-3AFA-56B9-F9A2-D697F25764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5513" y="658913"/>
            <a:ext cx="5605667" cy="227754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 indent="-171450" algn="just" fontAlgn="base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Got a baseline and progressed to richer models:</a:t>
            </a:r>
          </a:p>
          <a:p>
            <a:pPr marL="662940" lvl="1" indent="-285750" algn="just" fontAlgn="base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Regression- Baseline</a:t>
            </a:r>
          </a:p>
          <a:p>
            <a:pPr marL="662940" lvl="1" indent="-285750" algn="just" fontAlgn="base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</a:p>
          <a:p>
            <a:pPr marL="662940" lvl="1" indent="-285750" algn="just" fontAlgn="base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</a:t>
            </a:r>
          </a:p>
          <a:p>
            <a:pPr marL="662940" lvl="1" indent="-285750" algn="just" fontAlgn="base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Identical preprocessing across all models: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 imputation (numeric) and Modal imputation + one-hot encoding (categorical)</a:t>
            </a: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DD3D2503-052F-B288-D78A-FB3DD13AC2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7219" y="3429000"/>
            <a:ext cx="5783964" cy="264687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drivers of losses:</a:t>
            </a:r>
          </a:p>
          <a:p>
            <a:pPr marL="662940" lvl="1" indent="-285750" algn="just" fontAlgn="base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structure</a:t>
            </a:r>
          </a:p>
          <a:p>
            <a:pPr marL="662940" lvl="1" indent="-285750" algn="just" fontAlgn="base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Financing intensity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Sector and size are conditioning factors, not root causes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focus:</a:t>
            </a:r>
          </a:p>
          <a:p>
            <a:pPr marL="662940" lvl="1" indent="-285750" algn="just" fontAlgn="base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cost efficiency improvements</a:t>
            </a:r>
          </a:p>
          <a:p>
            <a:pPr marL="662940" lvl="1" indent="-285750" algn="just" fontAlgn="base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Ease financing constraints</a:t>
            </a:r>
          </a:p>
          <a:p>
            <a:pPr marL="662940" lvl="1" indent="-285750" algn="just" fontAlgn="base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small and manufacturing firms for compliance monitoring,</a:t>
            </a:r>
          </a:p>
          <a:p>
            <a:pPr marL="662940" lvl="1" indent="-285750" algn="just" fontAlgn="base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risk assessment, or targeted support</a:t>
            </a: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D5DE6115-CE64-DED6-292E-8811438859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7217" y="3100640"/>
            <a:ext cx="5783964" cy="32836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Model Results – Interpreting Loss Drivers</a:t>
            </a:r>
          </a:p>
        </p:txBody>
      </p:sp>
    </p:spTree>
    <p:extLst>
      <p:ext uri="{BB962C8B-B14F-4D97-AF65-F5344CB8AC3E}">
        <p14:creationId xmlns:p14="http://schemas.microsoft.com/office/powerpoint/2010/main" val="2687250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E11D55-F8D8-7FE0-15EA-2AEC3CB70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D0525C6-F198-8B8F-AEED-0100BA6FC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FE8776-BA04-55F6-A64A-9AC4EF451C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" y="32527"/>
            <a:ext cx="12191999" cy="402766"/>
          </a:xfrm>
          <a:solidFill>
            <a:srgbClr val="00B0F0"/>
          </a:solidFill>
        </p:spPr>
        <p:txBody>
          <a:bodyPr anchor="t">
            <a:no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Models results and comparison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9F649E0-A343-447E-86B3-877721647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207120"/>
            <a:ext cx="804195" cy="0"/>
          </a:xfrm>
          <a:prstGeom prst="line">
            <a:avLst/>
          </a:prstGeom>
          <a:ln w="1238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C2A1D04-42A1-A21B-44AE-2B6D96E618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233371"/>
              </p:ext>
            </p:extLst>
          </p:nvPr>
        </p:nvGraphicFramePr>
        <p:xfrm>
          <a:off x="804195" y="467820"/>
          <a:ext cx="10214451" cy="392559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689912">
                  <a:extLst>
                    <a:ext uri="{9D8B030D-6E8A-4147-A177-3AD203B41FA5}">
                      <a16:colId xmlns:a16="http://schemas.microsoft.com/office/drawing/2014/main" val="504902854"/>
                    </a:ext>
                  </a:extLst>
                </a:gridCol>
                <a:gridCol w="1018835">
                  <a:extLst>
                    <a:ext uri="{9D8B030D-6E8A-4147-A177-3AD203B41FA5}">
                      <a16:colId xmlns:a16="http://schemas.microsoft.com/office/drawing/2014/main" val="2588154461"/>
                    </a:ext>
                  </a:extLst>
                </a:gridCol>
                <a:gridCol w="911262">
                  <a:extLst>
                    <a:ext uri="{9D8B030D-6E8A-4147-A177-3AD203B41FA5}">
                      <a16:colId xmlns:a16="http://schemas.microsoft.com/office/drawing/2014/main" val="884665800"/>
                    </a:ext>
                  </a:extLst>
                </a:gridCol>
                <a:gridCol w="5594442">
                  <a:extLst>
                    <a:ext uri="{9D8B030D-6E8A-4147-A177-3AD203B41FA5}">
                      <a16:colId xmlns:a16="http://schemas.microsoft.com/office/drawing/2014/main" val="416803120"/>
                    </a:ext>
                  </a:extLst>
                </a:gridCol>
              </a:tblGrid>
              <a:tr h="416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/>
                        <a:t>Model</a:t>
                      </a:r>
                      <a:endParaRPr lang="en-US" sz="1300" dirty="0"/>
                    </a:p>
                  </a:txBody>
                  <a:tcPr marL="42342" marR="42342" marT="21170" marB="21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ROC–AUC</a:t>
                      </a:r>
                      <a:endParaRPr lang="en-US" sz="1300"/>
                    </a:p>
                  </a:txBody>
                  <a:tcPr marL="42342" marR="42342" marT="21170" marB="21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PR–AUC</a:t>
                      </a:r>
                      <a:endParaRPr lang="en-US" sz="1300"/>
                    </a:p>
                  </a:txBody>
                  <a:tcPr marL="42342" marR="42342" marT="21170" marB="21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Key Takeaway</a:t>
                      </a:r>
                      <a:endParaRPr lang="en-US" sz="1300"/>
                    </a:p>
                  </a:txBody>
                  <a:tcPr marL="42342" marR="42342" marT="21170" marB="21170" anchor="ctr"/>
                </a:tc>
                <a:extLst>
                  <a:ext uri="{0D108BD9-81ED-4DB2-BD59-A6C34878D82A}">
                    <a16:rowId xmlns:a16="http://schemas.microsoft.com/office/drawing/2014/main" val="2138175315"/>
                  </a:ext>
                </a:extLst>
              </a:tr>
              <a:tr h="701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/>
                        <a:t>Logistic Regression (Baseline)</a:t>
                      </a:r>
                      <a:endParaRPr lang="en-US" sz="1300" dirty="0"/>
                    </a:p>
                  </a:txBody>
                  <a:tcPr marL="42342" marR="42342" marT="21170" marB="21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0.74</a:t>
                      </a:r>
                    </a:p>
                  </a:txBody>
                  <a:tcPr marL="42342" marR="42342" marT="21170" marB="21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0.66</a:t>
                      </a:r>
                    </a:p>
                  </a:txBody>
                  <a:tcPr marL="42342" marR="42342" marT="21170" marB="21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Interpretable benchmark; shows losses are driven by cost structure, size, and sector, but limited in capturing nonlinear effects.</a:t>
                      </a:r>
                    </a:p>
                  </a:txBody>
                  <a:tcPr marL="42342" marR="42342" marT="21170" marB="21170" anchor="ctr"/>
                </a:tc>
                <a:extLst>
                  <a:ext uri="{0D108BD9-81ED-4DB2-BD59-A6C34878D82A}">
                    <a16:rowId xmlns:a16="http://schemas.microsoft.com/office/drawing/2014/main" val="335639986"/>
                  </a:ext>
                </a:extLst>
              </a:tr>
              <a:tr h="701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Random Forest</a:t>
                      </a:r>
                      <a:endParaRPr lang="en-US" sz="1300"/>
                    </a:p>
                  </a:txBody>
                  <a:tcPr marL="42342" marR="42342" marT="21170" marB="21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0.76</a:t>
                      </a:r>
                    </a:p>
                  </a:txBody>
                  <a:tcPr marL="42342" marR="42342" marT="21170" marB="21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0.71</a:t>
                      </a:r>
                    </a:p>
                  </a:txBody>
                  <a:tcPr marL="42342" marR="42342" marT="21170" marB="21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Strong improvement over linear models; better recall of loss firms but lower precision and weaker calibration.</a:t>
                      </a:r>
                    </a:p>
                  </a:txBody>
                  <a:tcPr marL="42342" marR="42342" marT="21170" marB="21170" anchor="ctr"/>
                </a:tc>
                <a:extLst>
                  <a:ext uri="{0D108BD9-81ED-4DB2-BD59-A6C34878D82A}">
                    <a16:rowId xmlns:a16="http://schemas.microsoft.com/office/drawing/2014/main" val="3940055537"/>
                  </a:ext>
                </a:extLst>
              </a:tr>
              <a:tr h="701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 err="1"/>
                        <a:t>HistGradientBoosting</a:t>
                      </a:r>
                      <a:endParaRPr lang="en-US" sz="1300" dirty="0"/>
                    </a:p>
                  </a:txBody>
                  <a:tcPr marL="42342" marR="42342" marT="21170" marB="21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0.799</a:t>
                      </a:r>
                    </a:p>
                  </a:txBody>
                  <a:tcPr marL="42342" marR="42342" marT="21170" marB="21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0.755</a:t>
                      </a:r>
                    </a:p>
                  </a:txBody>
                  <a:tcPr marL="42342" marR="42342" marT="21170" marB="21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Confirms boosting is well suited; efficient and accurate, but limited control and interpretability.</a:t>
                      </a:r>
                    </a:p>
                  </a:txBody>
                  <a:tcPr marL="42342" marR="42342" marT="21170" marB="21170" anchor="ctr"/>
                </a:tc>
                <a:extLst>
                  <a:ext uri="{0D108BD9-81ED-4DB2-BD59-A6C34878D82A}">
                    <a16:rowId xmlns:a16="http://schemas.microsoft.com/office/drawing/2014/main" val="217932278"/>
                  </a:ext>
                </a:extLst>
              </a:tr>
              <a:tr h="701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/>
                        <a:t>XGBoost (Fast-tuned)</a:t>
                      </a:r>
                      <a:endParaRPr lang="en-US" sz="1300" dirty="0"/>
                    </a:p>
                  </a:txBody>
                  <a:tcPr marL="42342" marR="42342" marT="21170" marB="21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0.799</a:t>
                      </a:r>
                    </a:p>
                  </a:txBody>
                  <a:tcPr marL="42342" marR="42342" marT="21170" marB="21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0.7515</a:t>
                      </a:r>
                    </a:p>
                  </a:txBody>
                  <a:tcPr marL="42342" marR="42342" marT="21170" marB="21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Best overall discrimination; flexible </a:t>
                      </a:r>
                      <a:r>
                        <a:rPr lang="en-US" sz="1300" dirty="0" err="1"/>
                        <a:t>regularisation</a:t>
                      </a:r>
                      <a:r>
                        <a:rPr lang="en-US" sz="1300" dirty="0"/>
                        <a:t> and strong precision for high-risk firms.</a:t>
                      </a:r>
                    </a:p>
                  </a:txBody>
                  <a:tcPr marL="42342" marR="42342" marT="21170" marB="21170" anchor="ctr"/>
                </a:tc>
                <a:extLst>
                  <a:ext uri="{0D108BD9-81ED-4DB2-BD59-A6C34878D82A}">
                    <a16:rowId xmlns:a16="http://schemas.microsoft.com/office/drawing/2014/main" val="2787115127"/>
                  </a:ext>
                </a:extLst>
              </a:tr>
              <a:tr h="701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 err="1"/>
                        <a:t>Optimised</a:t>
                      </a:r>
                      <a:r>
                        <a:rPr lang="en-US" sz="1300" b="1" dirty="0"/>
                        <a:t> XGBoost (Early-Stopping)</a:t>
                      </a:r>
                      <a:endParaRPr lang="en-US" sz="1300" dirty="0"/>
                    </a:p>
                  </a:txBody>
                  <a:tcPr marL="42342" marR="42342" marT="21170" marB="21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0.80</a:t>
                      </a:r>
                    </a:p>
                  </a:txBody>
                  <a:tcPr marL="42342" marR="42342" marT="21170" marB="21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0.7512</a:t>
                      </a:r>
                    </a:p>
                  </a:txBody>
                  <a:tcPr marL="42342" marR="42342" marT="21170" marB="21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Best calibrated and most stable model; preferred for operational, risk-based compliance profiling.</a:t>
                      </a:r>
                    </a:p>
                  </a:txBody>
                  <a:tcPr marL="42342" marR="42342" marT="21170" marB="21170" anchor="ctr"/>
                </a:tc>
                <a:extLst>
                  <a:ext uri="{0D108BD9-81ED-4DB2-BD59-A6C34878D82A}">
                    <a16:rowId xmlns:a16="http://schemas.microsoft.com/office/drawing/2014/main" val="2363401081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E5566B98-2D94-868A-E0D0-F82BA1F41653}"/>
              </a:ext>
            </a:extLst>
          </p:cNvPr>
          <p:cNvSpPr txBox="1"/>
          <p:nvPr/>
        </p:nvSpPr>
        <p:spPr>
          <a:xfrm>
            <a:off x="692426" y="4695376"/>
            <a:ext cx="10326220" cy="141577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XGBoost: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highest discrimination and precision, ideal for targeted risk profiling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recall, lower precision → better for broad coverage but less targeting efficiency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linear specification underperforms, limited for complex nonlinear patterns</a:t>
            </a:r>
          </a:p>
        </p:txBody>
      </p:sp>
    </p:spTree>
    <p:extLst>
      <p:ext uri="{BB962C8B-B14F-4D97-AF65-F5344CB8AC3E}">
        <p14:creationId xmlns:p14="http://schemas.microsoft.com/office/powerpoint/2010/main" val="10002185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79A492-BBB4-A5F5-193D-EE9754893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0079D3A-54D1-05A4-D45E-42C650345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12B2A5-8958-962E-AE23-638C3E7A31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" y="32527"/>
            <a:ext cx="12191999" cy="402766"/>
          </a:xfrm>
          <a:solidFill>
            <a:srgbClr val="00B0F0"/>
          </a:solidFill>
        </p:spPr>
        <p:txBody>
          <a:bodyPr anchor="t">
            <a:no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Feature Importance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E677A6E-7B1A-C82F-C867-98D290044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207120"/>
            <a:ext cx="804195" cy="0"/>
          </a:xfrm>
          <a:prstGeom prst="line">
            <a:avLst/>
          </a:prstGeom>
          <a:ln w="1238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07FC4C9-1E79-5EB9-AAA9-5EB4CCD65495}"/>
              </a:ext>
            </a:extLst>
          </p:cNvPr>
          <p:cNvSpPr txBox="1"/>
          <p:nvPr/>
        </p:nvSpPr>
        <p:spPr>
          <a:xfrm>
            <a:off x="-3714" y="435293"/>
            <a:ext cx="8640937" cy="38779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 (GAIN):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average improvement in the objective function due to splits on each feature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drivers: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Cost-to-turnover ratio – strongest predictor, highlights centrality of cost pressure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Sectoral indicators – Construction, Financial/Insurance, Manufacturing: reflecting structural differences in profitability across industries.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Firm size quartiles – especially largest firms (Q4), indicating systematic differences in loss incidence across the size distribution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High-cost / thin-margin flags – capturing firms operating close to viability thresholds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Financing and deduction intensity – pointing to the role of leverage and tax-related adjustments in shaping reported losses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XGBoost captures nonlinear interactions between costs, size, and sector more effectively than linear/logistic models, while maintaining economic interpretability.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49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93EB87-2D49-4489-75C4-C9592FF10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AC0F73E-594A-435F-3332-BA8D7E54A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71971C-8247-6113-2FA0-8BE7A955E8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" y="32527"/>
            <a:ext cx="12191999" cy="402766"/>
          </a:xfrm>
          <a:solidFill>
            <a:srgbClr val="00B0F0"/>
          </a:solidFill>
        </p:spPr>
        <p:txBody>
          <a:bodyPr anchor="t">
            <a:no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STRATEGIC RECOMMENDATIONS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FEC5A9E-36DD-303E-9B3D-5AA54AE26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207120"/>
            <a:ext cx="804195" cy="0"/>
          </a:xfrm>
          <a:prstGeom prst="line">
            <a:avLst/>
          </a:prstGeom>
          <a:ln w="1238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20302B9-182F-CF61-5A10-CDF38DDB7BB2}"/>
              </a:ext>
            </a:extLst>
          </p:cNvPr>
          <p:cNvSpPr txBox="1"/>
          <p:nvPr/>
        </p:nvSpPr>
        <p:spPr>
          <a:xfrm>
            <a:off x="0" y="435293"/>
            <a:ext cx="6096000" cy="243893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Operational Implementation</a:t>
            </a: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Adopt XGBoost: Deploy the optimized model as the standard for loss-risk scoring to leverage its superior non-linear discrimination.</a:t>
            </a: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Banding: Shift form binary “Loss/Non-loss” flags to predicted probability bands for smarter audit prioritization and resource allocation.</a:t>
            </a: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Forward-Looking Monitoring: Embed the model into revenue monitoring to identify emerging loss clusters early.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2F5121-436F-192B-DEF2-0491A47E49C3}"/>
              </a:ext>
            </a:extLst>
          </p:cNvPr>
          <p:cNvSpPr txBox="1"/>
          <p:nvPr/>
        </p:nvSpPr>
        <p:spPr>
          <a:xfrm>
            <a:off x="-2" y="3185618"/>
            <a:ext cx="6095999" cy="348537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Policy &amp; Compliance Re-Orientation</a:t>
            </a: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Refine Risk Profiling: Move away from “firm size” as a primary risk proxy. Focus instead on cost structure indicators (e.g., efficiency ratios) regardless of turnover.</a:t>
            </a: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Sector-Specific Thresholds: Establish distinct risk benchmarks for high-risk sectors (Construction, Real estate, Manufacturing) where loss propensity is naturally higher.</a:t>
            </a: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Enforcement: Complement broad policies (like minimum tax) with model-driven audits targeting firms with persistent, economically implausible loss patterns.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D7DF03-D07D-9B43-B3BC-7958F026D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4626" y="496158"/>
            <a:ext cx="5175858" cy="268357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7FBF275-C221-7E99-ABAA-E194299AE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522" y="3796748"/>
            <a:ext cx="5243384" cy="2683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740730"/>
      </p:ext>
    </p:extLst>
  </p:cSld>
  <p:clrMapOvr>
    <a:masterClrMapping/>
  </p:clrMapOvr>
</p:sld>
</file>

<file path=ppt/theme/theme1.xml><?xml version="1.0" encoding="utf-8"?>
<a:theme xmlns:a="http://schemas.openxmlformats.org/drawingml/2006/main" name="BjornVTI">
  <a:themeElements>
    <a:clrScheme name="Bjorn">
      <a:dk1>
        <a:sysClr val="windowText" lastClr="000000"/>
      </a:dk1>
      <a:lt1>
        <a:sysClr val="window" lastClr="FFFFFF"/>
      </a:lt1>
      <a:dk2>
        <a:srgbClr val="252747"/>
      </a:dk2>
      <a:lt2>
        <a:srgbClr val="ECE4E9"/>
      </a:lt2>
      <a:accent1>
        <a:srgbClr val="736EB6"/>
      </a:accent1>
      <a:accent2>
        <a:srgbClr val="AB5991"/>
      </a:accent2>
      <a:accent3>
        <a:srgbClr val="AC9F39"/>
      </a:accent3>
      <a:accent4>
        <a:srgbClr val="756029"/>
      </a:accent4>
      <a:accent5>
        <a:srgbClr val="E87850"/>
      </a:accent5>
      <a:accent6>
        <a:srgbClr val="C6922A"/>
      </a:accent6>
      <a:hlink>
        <a:srgbClr val="736EB6"/>
      </a:hlink>
      <a:folHlink>
        <a:srgbClr val="AB5991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VTI" id="{D01443FD-65CF-4AEF-9B9D-4466C96F9785}" vid="{36EF4262-385E-40E6-B073-FB18FD98BF4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645</TotalTime>
  <Words>1966</Words>
  <Application>Microsoft Office PowerPoint</Application>
  <PresentationFormat>Widescreen</PresentationFormat>
  <Paragraphs>190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Courier New</vt:lpstr>
      <vt:lpstr>Neue Haas Grotesk Text Pro</vt:lpstr>
      <vt:lpstr>Times New Roman</vt:lpstr>
      <vt:lpstr>Wingdings</vt:lpstr>
      <vt:lpstr>BjornVTI</vt:lpstr>
      <vt:lpstr>Predicting Loss-Making Firms Using Administrative Tax Data</vt:lpstr>
      <vt:lpstr>Purpose and Policy Context</vt:lpstr>
      <vt:lpstr>PowerPoint Presentation</vt:lpstr>
      <vt:lpstr>PowerPoint Presentation</vt:lpstr>
      <vt:lpstr>PowerPoint Presentation</vt:lpstr>
      <vt:lpstr>Exploratory Data Analysis – Key Patterns</vt:lpstr>
      <vt:lpstr>Exploratory Data Analysis – Key Patterns</vt:lpstr>
      <vt:lpstr>Exploratory Data Analysis – Key Patterns</vt:lpstr>
      <vt:lpstr>Exploratory Data Analysis – Key Patterns</vt:lpstr>
      <vt:lpstr>Data Preparation and Preprocessing Summary</vt:lpstr>
      <vt:lpstr>Models results and comparison</vt:lpstr>
      <vt:lpstr>Feature Importance </vt:lpstr>
      <vt:lpstr>STRATEGIC RECOMMENDATIONS</vt:lpstr>
    </vt:vector>
  </TitlesOfParts>
  <Company>CBK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Grace W. Kinyanjui</dc:creator>
  <cp:lastModifiedBy>Grace W. Kinyanjui</cp:lastModifiedBy>
  <cp:revision>3</cp:revision>
  <dcterms:created xsi:type="dcterms:W3CDTF">2026-01-23T06:16:09Z</dcterms:created>
  <dcterms:modified xsi:type="dcterms:W3CDTF">2026-02-06T08:15:36Z</dcterms:modified>
</cp:coreProperties>
</file>